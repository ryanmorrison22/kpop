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8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89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15/06/2023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4374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15/06/2023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7355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15/06/2023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50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15/06/2023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4085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15/06/2023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501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15/06/2023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306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15/06/2023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183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15/06/2023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841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15/06/2023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1053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15/06/2023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089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15/06/2023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00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45CC1-0958-4856-BFA7-DB597C62ADE2}" type="datetimeFigureOut">
              <a:rPr lang="en-GB" smtClean="0"/>
              <a:t>15/06/2023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225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45">
            <a:extLst>
              <a:ext uri="{FF2B5EF4-FFF2-40B4-BE49-F238E27FC236}">
                <a16:creationId xmlns:a16="http://schemas.microsoft.com/office/drawing/2014/main" id="{3DB39F4D-1813-95F2-0737-0329504F094C}"/>
              </a:ext>
            </a:extLst>
          </p:cNvPr>
          <p:cNvSpPr/>
          <p:nvPr/>
        </p:nvSpPr>
        <p:spPr>
          <a:xfrm>
            <a:off x="392193" y="868461"/>
            <a:ext cx="1220399" cy="5636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/>
              <a:t>Sequences (FASTA)</a:t>
            </a:r>
          </a:p>
          <a:p>
            <a:pPr algn="ctr"/>
            <a:r>
              <a:rPr lang="en-GB" sz="1001" dirty="0"/>
              <a:t>Reads (FASTQ)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C65AB305-33FD-845B-34B5-0FB95AB01E33}"/>
              </a:ext>
            </a:extLst>
          </p:cNvPr>
          <p:cNvSpPr/>
          <p:nvPr/>
        </p:nvSpPr>
        <p:spPr>
          <a:xfrm>
            <a:off x="385099" y="2925326"/>
            <a:ext cx="1220400" cy="5636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i="1" dirty="0"/>
              <a:t>k</a:t>
            </a:r>
            <a:r>
              <a:rPr lang="en-GB" sz="1001" dirty="0"/>
              <a:t>-</a:t>
            </a:r>
            <a:r>
              <a:rPr lang="en-GB" sz="1001" dirty="0" err="1"/>
              <a:t>mer</a:t>
            </a:r>
            <a:r>
              <a:rPr lang="en-GB" sz="1001" dirty="0"/>
              <a:t> spectra</a:t>
            </a:r>
          </a:p>
          <a:p>
            <a:pPr algn="ctr"/>
            <a:r>
              <a:rPr lang="en-GB" sz="1001" dirty="0"/>
              <a:t>(tab-separated) 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3303FE19-AAD3-9E5C-B6E9-58FC33083A81}"/>
              </a:ext>
            </a:extLst>
          </p:cNvPr>
          <p:cNvSpPr/>
          <p:nvPr/>
        </p:nvSpPr>
        <p:spPr>
          <a:xfrm>
            <a:off x="3393560" y="3298517"/>
            <a:ext cx="1221299" cy="56365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1" i="1" dirty="0"/>
              <a:t>k</a:t>
            </a:r>
            <a:r>
              <a:rPr lang="en-GB" sz="1001" dirty="0"/>
              <a:t>-</a:t>
            </a:r>
            <a:r>
              <a:rPr lang="en-GB" sz="1001" dirty="0" err="1"/>
              <a:t>mer</a:t>
            </a:r>
            <a:r>
              <a:rPr lang="en-GB" sz="1001" dirty="0"/>
              <a:t> spectra DB</a:t>
            </a:r>
          </a:p>
          <a:p>
            <a:pPr algn="ctr"/>
            <a:r>
              <a:rPr lang="en-GB" sz="1001" dirty="0"/>
              <a:t>(binary, .</a:t>
            </a:r>
            <a:r>
              <a:rPr lang="en-GB" sz="1001" dirty="0" err="1"/>
              <a:t>KPopCounter</a:t>
            </a:r>
            <a:r>
              <a:rPr lang="en-GB" sz="1001" dirty="0"/>
              <a:t>) 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0D0F988C-33DA-B85F-2D36-B5DC781BA834}"/>
              </a:ext>
            </a:extLst>
          </p:cNvPr>
          <p:cNvSpPr/>
          <p:nvPr/>
        </p:nvSpPr>
        <p:spPr>
          <a:xfrm>
            <a:off x="1857668" y="848875"/>
            <a:ext cx="1322621" cy="6028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 err="1"/>
              <a:t>KPopCount</a:t>
            </a:r>
            <a:endParaRPr lang="en-GB" sz="1001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9CD8A215-0891-558E-A4DC-E4550216830E}"/>
              </a:ext>
            </a:extLst>
          </p:cNvPr>
          <p:cNvSpPr/>
          <p:nvPr/>
        </p:nvSpPr>
        <p:spPr>
          <a:xfrm>
            <a:off x="3400653" y="868460"/>
            <a:ext cx="1221300" cy="5636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i="1" dirty="0"/>
              <a:t>k</a:t>
            </a:r>
            <a:r>
              <a:rPr lang="en-GB" sz="1001" dirty="0"/>
              <a:t>-</a:t>
            </a:r>
            <a:r>
              <a:rPr lang="en-GB" sz="1001" dirty="0" err="1"/>
              <a:t>mer</a:t>
            </a:r>
            <a:r>
              <a:rPr lang="en-GB" sz="1001" dirty="0"/>
              <a:t> spectra</a:t>
            </a:r>
          </a:p>
          <a:p>
            <a:pPr algn="ctr"/>
            <a:r>
              <a:rPr lang="en-GB" sz="1001" dirty="0"/>
              <a:t>(tab-separated) 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94EA9F5E-85CF-6F76-C371-B784847AF75C}"/>
              </a:ext>
            </a:extLst>
          </p:cNvPr>
          <p:cNvCxnSpPr>
            <a:cxnSpLocks/>
            <a:stCxn id="146" idx="3"/>
            <a:endCxn id="149" idx="2"/>
          </p:cNvCxnSpPr>
          <p:nvPr/>
        </p:nvCxnSpPr>
        <p:spPr>
          <a:xfrm flipV="1">
            <a:off x="1612592" y="1150289"/>
            <a:ext cx="24507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52236767-D6EC-7599-21C4-3986494E2C29}"/>
              </a:ext>
            </a:extLst>
          </p:cNvPr>
          <p:cNvCxnSpPr>
            <a:cxnSpLocks/>
            <a:stCxn id="149" idx="6"/>
            <a:endCxn id="150" idx="1"/>
          </p:cNvCxnSpPr>
          <p:nvPr/>
        </p:nvCxnSpPr>
        <p:spPr>
          <a:xfrm>
            <a:off x="3180289" y="1150289"/>
            <a:ext cx="2203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3" name="Rectangle 152">
            <a:extLst>
              <a:ext uri="{FF2B5EF4-FFF2-40B4-BE49-F238E27FC236}">
                <a16:creationId xmlns:a16="http://schemas.microsoft.com/office/drawing/2014/main" id="{F214B5BE-BD15-18B0-DEA0-0CCD82F8CAEB}"/>
              </a:ext>
            </a:extLst>
          </p:cNvPr>
          <p:cNvSpPr/>
          <p:nvPr/>
        </p:nvSpPr>
        <p:spPr>
          <a:xfrm>
            <a:off x="385100" y="3658658"/>
            <a:ext cx="1220400" cy="5636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/>
              <a:t>Sample metadata</a:t>
            </a:r>
          </a:p>
          <a:p>
            <a:pPr algn="ctr"/>
            <a:r>
              <a:rPr lang="en-GB" sz="1001" dirty="0"/>
              <a:t>(tab-separated) </a:t>
            </a: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28F9707D-1989-4686-7B35-0679217D6C46}"/>
              </a:ext>
            </a:extLst>
          </p:cNvPr>
          <p:cNvSpPr/>
          <p:nvPr/>
        </p:nvSpPr>
        <p:spPr>
          <a:xfrm>
            <a:off x="1850574" y="3276551"/>
            <a:ext cx="1322623" cy="6028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 err="1"/>
              <a:t>KPopCountDB</a:t>
            </a:r>
            <a:endParaRPr lang="en-GB" sz="1001" dirty="0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0406DD78-8B58-6DDC-38C5-6AB36DA4DE42}"/>
              </a:ext>
            </a:extLst>
          </p:cNvPr>
          <p:cNvCxnSpPr>
            <a:cxnSpLocks/>
            <a:stCxn id="147" idx="3"/>
            <a:endCxn id="154" idx="2"/>
          </p:cNvCxnSpPr>
          <p:nvPr/>
        </p:nvCxnSpPr>
        <p:spPr>
          <a:xfrm>
            <a:off x="1605499" y="3207155"/>
            <a:ext cx="245075" cy="3708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DD2E30E1-C3E4-DD37-C2DF-06C0A3314CA6}"/>
              </a:ext>
            </a:extLst>
          </p:cNvPr>
          <p:cNvCxnSpPr>
            <a:cxnSpLocks/>
            <a:stCxn id="153" idx="3"/>
            <a:endCxn id="154" idx="2"/>
          </p:cNvCxnSpPr>
          <p:nvPr/>
        </p:nvCxnSpPr>
        <p:spPr>
          <a:xfrm flipV="1">
            <a:off x="1605500" y="3577965"/>
            <a:ext cx="245074" cy="36252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110BE2D8-5149-3370-440E-0B30DFAC6DB3}"/>
              </a:ext>
            </a:extLst>
          </p:cNvPr>
          <p:cNvCxnSpPr>
            <a:cxnSpLocks/>
            <a:stCxn id="154" idx="6"/>
            <a:endCxn id="148" idx="1"/>
          </p:cNvCxnSpPr>
          <p:nvPr/>
        </p:nvCxnSpPr>
        <p:spPr>
          <a:xfrm>
            <a:off x="3173197" y="3577965"/>
            <a:ext cx="220363" cy="23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8" name="Rectangle 157">
            <a:extLst>
              <a:ext uri="{FF2B5EF4-FFF2-40B4-BE49-F238E27FC236}">
                <a16:creationId xmlns:a16="http://schemas.microsoft.com/office/drawing/2014/main" id="{B30F4E44-2D7A-9683-6009-932500D020DF}"/>
              </a:ext>
            </a:extLst>
          </p:cNvPr>
          <p:cNvSpPr/>
          <p:nvPr/>
        </p:nvSpPr>
        <p:spPr>
          <a:xfrm>
            <a:off x="380772" y="4453748"/>
            <a:ext cx="1224727" cy="5636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i="1" dirty="0"/>
              <a:t>k</a:t>
            </a:r>
            <a:r>
              <a:rPr lang="en-GB" sz="1001" dirty="0"/>
              <a:t>-</a:t>
            </a:r>
            <a:r>
              <a:rPr lang="en-GB" sz="1001" dirty="0" err="1"/>
              <a:t>mer</a:t>
            </a:r>
            <a:r>
              <a:rPr lang="en-GB" sz="1001" dirty="0"/>
              <a:t> spectra</a:t>
            </a:r>
          </a:p>
          <a:p>
            <a:pPr algn="ctr"/>
            <a:r>
              <a:rPr lang="en-GB" sz="1001" dirty="0"/>
              <a:t>(tab-separated) 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3563F398-A450-6CC3-BA5C-CC99A9E5BFB3}"/>
              </a:ext>
            </a:extLst>
          </p:cNvPr>
          <p:cNvSpPr/>
          <p:nvPr/>
        </p:nvSpPr>
        <p:spPr>
          <a:xfrm>
            <a:off x="3396006" y="4828247"/>
            <a:ext cx="1218853" cy="56365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1" i="1" dirty="0"/>
              <a:t>k</a:t>
            </a:r>
            <a:r>
              <a:rPr lang="en-GB" sz="1001" dirty="0"/>
              <a:t>-</a:t>
            </a:r>
            <a:r>
              <a:rPr lang="en-GB" sz="1001" dirty="0" err="1"/>
              <a:t>mer</a:t>
            </a:r>
            <a:r>
              <a:rPr lang="en-GB" sz="1001" dirty="0"/>
              <a:t> spectra DB</a:t>
            </a:r>
          </a:p>
          <a:p>
            <a:pPr algn="ctr"/>
            <a:r>
              <a:rPr lang="en-GB" sz="1001" dirty="0"/>
              <a:t>(binary, .</a:t>
            </a:r>
            <a:r>
              <a:rPr lang="en-GB" sz="1001" dirty="0" err="1"/>
              <a:t>KPopCounter</a:t>
            </a:r>
            <a:r>
              <a:rPr lang="en-GB" sz="1001" dirty="0"/>
              <a:t>) </a:t>
            </a: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41CFDC39-3FC1-1A7D-A135-34F6EA18CD36}"/>
              </a:ext>
            </a:extLst>
          </p:cNvPr>
          <p:cNvSpPr/>
          <p:nvPr/>
        </p:nvSpPr>
        <p:spPr>
          <a:xfrm>
            <a:off x="1853018" y="4806282"/>
            <a:ext cx="1322623" cy="6028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 err="1"/>
              <a:t>KPopCountDB</a:t>
            </a:r>
            <a:endParaRPr lang="en-GB" sz="1001" dirty="0"/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AC2FFB22-6635-995B-B4E7-26070C6BEA0F}"/>
              </a:ext>
            </a:extLst>
          </p:cNvPr>
          <p:cNvCxnSpPr>
            <a:cxnSpLocks/>
            <a:stCxn id="158" idx="3"/>
            <a:endCxn id="160" idx="2"/>
          </p:cNvCxnSpPr>
          <p:nvPr/>
        </p:nvCxnSpPr>
        <p:spPr>
          <a:xfrm>
            <a:off x="1605499" y="4735577"/>
            <a:ext cx="247519" cy="37211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949993E3-CB26-AAEB-3607-64BE1A3CA30F}"/>
              </a:ext>
            </a:extLst>
          </p:cNvPr>
          <p:cNvCxnSpPr>
            <a:cxnSpLocks/>
            <a:stCxn id="164" idx="3"/>
            <a:endCxn id="160" idx="2"/>
          </p:cNvCxnSpPr>
          <p:nvPr/>
        </p:nvCxnSpPr>
        <p:spPr>
          <a:xfrm flipV="1">
            <a:off x="1605498" y="5107696"/>
            <a:ext cx="247520" cy="345527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6F6E716B-7399-6F0A-BCCC-882C9B470E1C}"/>
              </a:ext>
            </a:extLst>
          </p:cNvPr>
          <p:cNvCxnSpPr>
            <a:cxnSpLocks/>
            <a:stCxn id="160" idx="6"/>
            <a:endCxn id="159" idx="1"/>
          </p:cNvCxnSpPr>
          <p:nvPr/>
        </p:nvCxnSpPr>
        <p:spPr>
          <a:xfrm>
            <a:off x="3175641" y="5107696"/>
            <a:ext cx="220365" cy="2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0A4B4CB-8007-1CD9-3C7A-F8737184E9FD}"/>
              </a:ext>
            </a:extLst>
          </p:cNvPr>
          <p:cNvSpPr/>
          <p:nvPr/>
        </p:nvSpPr>
        <p:spPr>
          <a:xfrm>
            <a:off x="380771" y="5171394"/>
            <a:ext cx="1224727" cy="56365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1" i="1" dirty="0"/>
              <a:t>k</a:t>
            </a:r>
            <a:r>
              <a:rPr lang="en-GB" sz="1001" dirty="0"/>
              <a:t>-</a:t>
            </a:r>
            <a:r>
              <a:rPr lang="en-GB" sz="1001" dirty="0" err="1"/>
              <a:t>mer</a:t>
            </a:r>
            <a:r>
              <a:rPr lang="en-GB" sz="1001" dirty="0"/>
              <a:t> spectra DB</a:t>
            </a:r>
          </a:p>
          <a:p>
            <a:pPr algn="ctr"/>
            <a:r>
              <a:rPr lang="en-GB" sz="1001" dirty="0"/>
              <a:t>(binary, .</a:t>
            </a:r>
            <a:r>
              <a:rPr lang="en-GB" sz="1001" dirty="0" err="1"/>
              <a:t>KPopCounter</a:t>
            </a:r>
            <a:r>
              <a:rPr lang="en-GB" sz="1001" dirty="0"/>
              <a:t>) 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D02C02AC-ED70-FBCC-2001-C07B09A8C4D2}"/>
              </a:ext>
            </a:extLst>
          </p:cNvPr>
          <p:cNvSpPr/>
          <p:nvPr/>
        </p:nvSpPr>
        <p:spPr>
          <a:xfrm>
            <a:off x="8315374" y="497334"/>
            <a:ext cx="1219728" cy="56365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1" dirty="0"/>
              <a:t>Twister</a:t>
            </a:r>
          </a:p>
          <a:p>
            <a:pPr algn="ctr"/>
            <a:r>
              <a:rPr lang="en-GB" sz="1001" dirty="0"/>
              <a:t>(binary,</a:t>
            </a:r>
          </a:p>
          <a:p>
            <a:pPr algn="ctr"/>
            <a:r>
              <a:rPr lang="en-GB" sz="1001" dirty="0"/>
              <a:t>.</a:t>
            </a:r>
            <a:r>
              <a:rPr lang="en-GB" sz="1001" dirty="0" err="1"/>
              <a:t>KPopTwister</a:t>
            </a:r>
            <a:r>
              <a:rPr lang="en-GB" sz="1001" dirty="0"/>
              <a:t>) </a:t>
            </a: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C66AB01F-C95B-0D60-53D1-6DFC3E030235}"/>
              </a:ext>
            </a:extLst>
          </p:cNvPr>
          <p:cNvSpPr/>
          <p:nvPr/>
        </p:nvSpPr>
        <p:spPr>
          <a:xfrm>
            <a:off x="6769057" y="834378"/>
            <a:ext cx="1322623" cy="6028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 err="1"/>
              <a:t>KPopTwist</a:t>
            </a:r>
            <a:endParaRPr lang="en-GB" sz="1001" dirty="0"/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7E565A4D-EEF2-D3F5-0636-C7A730CF6410}"/>
              </a:ext>
            </a:extLst>
          </p:cNvPr>
          <p:cNvCxnSpPr>
            <a:cxnSpLocks/>
            <a:stCxn id="169" idx="3"/>
            <a:endCxn id="166" idx="2"/>
          </p:cNvCxnSpPr>
          <p:nvPr/>
        </p:nvCxnSpPr>
        <p:spPr>
          <a:xfrm>
            <a:off x="6518111" y="1135792"/>
            <a:ext cx="250946" cy="0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7343521C-D21F-8F3D-0ECA-1F7274392322}"/>
              </a:ext>
            </a:extLst>
          </p:cNvPr>
          <p:cNvCxnSpPr>
            <a:cxnSpLocks/>
            <a:stCxn id="166" idx="6"/>
            <a:endCxn id="165" idx="1"/>
          </p:cNvCxnSpPr>
          <p:nvPr/>
        </p:nvCxnSpPr>
        <p:spPr>
          <a:xfrm flipV="1">
            <a:off x="8091680" y="779163"/>
            <a:ext cx="223694" cy="3566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7C6AAAF-2C68-9AF7-63D0-281FE4259F81}"/>
              </a:ext>
            </a:extLst>
          </p:cNvPr>
          <p:cNvSpPr/>
          <p:nvPr/>
        </p:nvSpPr>
        <p:spPr>
          <a:xfrm>
            <a:off x="5296811" y="853963"/>
            <a:ext cx="1221300" cy="56365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1" i="1" dirty="0"/>
              <a:t>k</a:t>
            </a:r>
            <a:r>
              <a:rPr lang="en-GB" sz="1001" dirty="0"/>
              <a:t>-</a:t>
            </a:r>
            <a:r>
              <a:rPr lang="en-GB" sz="1001" dirty="0" err="1"/>
              <a:t>mer</a:t>
            </a:r>
            <a:r>
              <a:rPr lang="en-GB" sz="1001" dirty="0"/>
              <a:t> spectra DB</a:t>
            </a:r>
          </a:p>
          <a:p>
            <a:pPr algn="ctr"/>
            <a:r>
              <a:rPr lang="en-GB" sz="1001" dirty="0"/>
              <a:t>(binary,</a:t>
            </a:r>
          </a:p>
          <a:p>
            <a:pPr algn="ctr"/>
            <a:r>
              <a:rPr lang="en-GB" sz="1001" dirty="0"/>
              <a:t>.</a:t>
            </a:r>
            <a:r>
              <a:rPr lang="en-GB" sz="1001" dirty="0" err="1"/>
              <a:t>KPopCounter</a:t>
            </a:r>
            <a:r>
              <a:rPr lang="en-GB" sz="1001" dirty="0"/>
              <a:t>) 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4432A505-A52E-E8C8-9315-647FB128A1FF}"/>
              </a:ext>
            </a:extLst>
          </p:cNvPr>
          <p:cNvSpPr/>
          <p:nvPr/>
        </p:nvSpPr>
        <p:spPr>
          <a:xfrm>
            <a:off x="8315374" y="1215957"/>
            <a:ext cx="1219728" cy="56365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1" dirty="0"/>
              <a:t>Twisted spectra</a:t>
            </a:r>
          </a:p>
          <a:p>
            <a:pPr algn="ctr"/>
            <a:r>
              <a:rPr lang="en-GB" sz="1001" dirty="0"/>
              <a:t>(binary,</a:t>
            </a:r>
          </a:p>
          <a:p>
            <a:pPr algn="ctr"/>
            <a:r>
              <a:rPr lang="en-GB" sz="1001" dirty="0"/>
              <a:t>.</a:t>
            </a:r>
            <a:r>
              <a:rPr lang="en-GB" sz="1001" dirty="0" err="1"/>
              <a:t>KPopTwisted</a:t>
            </a:r>
            <a:r>
              <a:rPr lang="en-GB" sz="1001" dirty="0"/>
              <a:t>) </a:t>
            </a:r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D7E10F99-E6D8-B434-F433-6786EC855E2E}"/>
              </a:ext>
            </a:extLst>
          </p:cNvPr>
          <p:cNvCxnSpPr>
            <a:cxnSpLocks/>
            <a:stCxn id="166" idx="6"/>
            <a:endCxn id="170" idx="1"/>
          </p:cNvCxnSpPr>
          <p:nvPr/>
        </p:nvCxnSpPr>
        <p:spPr>
          <a:xfrm>
            <a:off x="8091680" y="1135792"/>
            <a:ext cx="223694" cy="3619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2" name="Oval 171">
            <a:extLst>
              <a:ext uri="{FF2B5EF4-FFF2-40B4-BE49-F238E27FC236}">
                <a16:creationId xmlns:a16="http://schemas.microsoft.com/office/drawing/2014/main" id="{7F66EE95-49C5-07B5-8F88-236713211B1F}"/>
              </a:ext>
            </a:extLst>
          </p:cNvPr>
          <p:cNvSpPr/>
          <p:nvPr/>
        </p:nvSpPr>
        <p:spPr>
          <a:xfrm>
            <a:off x="1850572" y="5940695"/>
            <a:ext cx="1322623" cy="6028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 err="1"/>
              <a:t>KPopCountDB</a:t>
            </a:r>
            <a:endParaRPr lang="en-GB" sz="1001" dirty="0"/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FB1B462F-7786-B41E-2314-FA7C7A5034A5}"/>
              </a:ext>
            </a:extLst>
          </p:cNvPr>
          <p:cNvCxnSpPr>
            <a:cxnSpLocks/>
            <a:stCxn id="175" idx="3"/>
            <a:endCxn id="172" idx="2"/>
          </p:cNvCxnSpPr>
          <p:nvPr/>
        </p:nvCxnSpPr>
        <p:spPr>
          <a:xfrm>
            <a:off x="1605500" y="6242108"/>
            <a:ext cx="245072" cy="1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98B5DA02-7F49-2A56-1812-ADAE49AA198F}"/>
              </a:ext>
            </a:extLst>
          </p:cNvPr>
          <p:cNvCxnSpPr>
            <a:cxnSpLocks/>
            <a:stCxn id="172" idx="6"/>
            <a:endCxn id="176" idx="1"/>
          </p:cNvCxnSpPr>
          <p:nvPr/>
        </p:nvCxnSpPr>
        <p:spPr>
          <a:xfrm flipV="1">
            <a:off x="3173195" y="6242108"/>
            <a:ext cx="227633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5" name="Rectangle 174">
            <a:extLst>
              <a:ext uri="{FF2B5EF4-FFF2-40B4-BE49-F238E27FC236}">
                <a16:creationId xmlns:a16="http://schemas.microsoft.com/office/drawing/2014/main" id="{F8CA3C3F-D937-76F3-3224-728C2F3083D5}"/>
              </a:ext>
            </a:extLst>
          </p:cNvPr>
          <p:cNvSpPr/>
          <p:nvPr/>
        </p:nvSpPr>
        <p:spPr>
          <a:xfrm>
            <a:off x="380773" y="5960279"/>
            <a:ext cx="1224727" cy="56365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1" i="1" dirty="0"/>
              <a:t>k</a:t>
            </a:r>
            <a:r>
              <a:rPr lang="en-GB" sz="1001" dirty="0"/>
              <a:t>-</a:t>
            </a:r>
            <a:r>
              <a:rPr lang="en-GB" sz="1001" dirty="0" err="1"/>
              <a:t>mer</a:t>
            </a:r>
            <a:r>
              <a:rPr lang="en-GB" sz="1001" dirty="0"/>
              <a:t> spectra DB</a:t>
            </a:r>
          </a:p>
          <a:p>
            <a:pPr algn="ctr"/>
            <a:r>
              <a:rPr lang="en-GB" sz="1001" dirty="0"/>
              <a:t>(binary, .</a:t>
            </a:r>
            <a:r>
              <a:rPr lang="en-GB" sz="1001" dirty="0" err="1"/>
              <a:t>KPopCounter</a:t>
            </a:r>
            <a:r>
              <a:rPr lang="en-GB" sz="1001" dirty="0"/>
              <a:t>) 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A3F6D079-1DE4-A2F8-B3AE-3A5D2E1682E6}"/>
              </a:ext>
            </a:extLst>
          </p:cNvPr>
          <p:cNvSpPr/>
          <p:nvPr/>
        </p:nvSpPr>
        <p:spPr>
          <a:xfrm>
            <a:off x="3400828" y="5960279"/>
            <a:ext cx="1214031" cy="5636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i="1" dirty="0"/>
              <a:t>k</a:t>
            </a:r>
            <a:r>
              <a:rPr lang="en-GB" sz="1001" dirty="0"/>
              <a:t>-</a:t>
            </a:r>
            <a:r>
              <a:rPr lang="en-GB" sz="1001" dirty="0" err="1"/>
              <a:t>mer</a:t>
            </a:r>
            <a:r>
              <a:rPr lang="en-GB" sz="1001" dirty="0"/>
              <a:t> spectra DB</a:t>
            </a:r>
          </a:p>
          <a:p>
            <a:pPr algn="ctr"/>
            <a:r>
              <a:rPr lang="en-GB" sz="1001" dirty="0"/>
              <a:t>(tab-separated) 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0E24AAE1-472E-9150-C757-F2832873A501}"/>
              </a:ext>
            </a:extLst>
          </p:cNvPr>
          <p:cNvSpPr/>
          <p:nvPr/>
        </p:nvSpPr>
        <p:spPr>
          <a:xfrm>
            <a:off x="5301571" y="2936467"/>
            <a:ext cx="1224727" cy="5636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i="1" dirty="0"/>
              <a:t>k</a:t>
            </a:r>
            <a:r>
              <a:rPr lang="en-GB" sz="1001" dirty="0"/>
              <a:t>-</a:t>
            </a:r>
            <a:r>
              <a:rPr lang="en-GB" sz="1001" dirty="0" err="1"/>
              <a:t>mer</a:t>
            </a:r>
            <a:r>
              <a:rPr lang="en-GB" sz="1001" dirty="0"/>
              <a:t> spectra</a:t>
            </a:r>
          </a:p>
          <a:p>
            <a:pPr algn="ctr"/>
            <a:r>
              <a:rPr lang="en-GB" sz="1001" dirty="0"/>
              <a:t>(tab-separated) 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93B67F36-D9B9-788D-089D-D86A5F0A84E0}"/>
              </a:ext>
            </a:extLst>
          </p:cNvPr>
          <p:cNvSpPr/>
          <p:nvPr/>
        </p:nvSpPr>
        <p:spPr>
          <a:xfrm>
            <a:off x="8316805" y="3310966"/>
            <a:ext cx="1218853" cy="56365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1" dirty="0"/>
              <a:t>Twisted spectra</a:t>
            </a:r>
          </a:p>
          <a:p>
            <a:pPr algn="ctr"/>
            <a:r>
              <a:rPr lang="en-GB" sz="1001" dirty="0"/>
              <a:t>(binary,</a:t>
            </a:r>
          </a:p>
          <a:p>
            <a:pPr algn="ctr"/>
            <a:r>
              <a:rPr lang="en-GB" sz="1001" dirty="0"/>
              <a:t>.</a:t>
            </a:r>
            <a:r>
              <a:rPr lang="en-GB" sz="1001" dirty="0" err="1"/>
              <a:t>KPopTwisted</a:t>
            </a:r>
            <a:r>
              <a:rPr lang="en-GB" sz="1001" dirty="0"/>
              <a:t>) 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44C55054-199C-3E2D-AA61-ED38F0A600B8}"/>
              </a:ext>
            </a:extLst>
          </p:cNvPr>
          <p:cNvSpPr/>
          <p:nvPr/>
        </p:nvSpPr>
        <p:spPr>
          <a:xfrm>
            <a:off x="6773817" y="3289001"/>
            <a:ext cx="1322623" cy="6028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 err="1"/>
              <a:t>KPopTwistDB</a:t>
            </a:r>
            <a:endParaRPr lang="en-GB" sz="1001" dirty="0"/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9932CE7A-1D82-E8EC-F5B3-C145CD4237E6}"/>
              </a:ext>
            </a:extLst>
          </p:cNvPr>
          <p:cNvCxnSpPr>
            <a:cxnSpLocks/>
            <a:stCxn id="177" idx="3"/>
            <a:endCxn id="179" idx="2"/>
          </p:cNvCxnSpPr>
          <p:nvPr/>
        </p:nvCxnSpPr>
        <p:spPr>
          <a:xfrm>
            <a:off x="6526298" y="3218296"/>
            <a:ext cx="247519" cy="37211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C7C6A06B-4223-BAFC-7600-2FC3A65601AD}"/>
              </a:ext>
            </a:extLst>
          </p:cNvPr>
          <p:cNvCxnSpPr>
            <a:cxnSpLocks/>
            <a:stCxn id="183" idx="3"/>
            <a:endCxn id="179" idx="2"/>
          </p:cNvCxnSpPr>
          <p:nvPr/>
        </p:nvCxnSpPr>
        <p:spPr>
          <a:xfrm flipV="1">
            <a:off x="6526297" y="3590415"/>
            <a:ext cx="247520" cy="345527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48BA2DD0-8CA6-E403-55A1-9D4596A1BF9C}"/>
              </a:ext>
            </a:extLst>
          </p:cNvPr>
          <p:cNvCxnSpPr>
            <a:cxnSpLocks/>
            <a:stCxn id="179" idx="6"/>
            <a:endCxn id="178" idx="1"/>
          </p:cNvCxnSpPr>
          <p:nvPr/>
        </p:nvCxnSpPr>
        <p:spPr>
          <a:xfrm>
            <a:off x="8096440" y="3590415"/>
            <a:ext cx="220365" cy="2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3" name="Rectangle 182">
            <a:extLst>
              <a:ext uri="{FF2B5EF4-FFF2-40B4-BE49-F238E27FC236}">
                <a16:creationId xmlns:a16="http://schemas.microsoft.com/office/drawing/2014/main" id="{8DC58788-9EEA-CE17-AF90-9990D13BBC09}"/>
              </a:ext>
            </a:extLst>
          </p:cNvPr>
          <p:cNvSpPr/>
          <p:nvPr/>
        </p:nvSpPr>
        <p:spPr>
          <a:xfrm>
            <a:off x="5301570" y="3654113"/>
            <a:ext cx="1224727" cy="56365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1" dirty="0"/>
              <a:t>Twister</a:t>
            </a:r>
          </a:p>
          <a:p>
            <a:pPr algn="ctr"/>
            <a:r>
              <a:rPr lang="en-GB" sz="1001" dirty="0"/>
              <a:t>(binary,</a:t>
            </a:r>
          </a:p>
          <a:p>
            <a:pPr algn="ctr"/>
            <a:r>
              <a:rPr lang="en-GB" sz="1001" dirty="0"/>
              <a:t>.</a:t>
            </a:r>
            <a:r>
              <a:rPr lang="en-GB" sz="1001" dirty="0" err="1"/>
              <a:t>KPopTwister</a:t>
            </a:r>
            <a:r>
              <a:rPr lang="en-GB" sz="1001" dirty="0"/>
              <a:t>) 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C465371D-49EE-60E9-6C86-103D097AF3E7}"/>
              </a:ext>
            </a:extLst>
          </p:cNvPr>
          <p:cNvSpPr/>
          <p:nvPr/>
        </p:nvSpPr>
        <p:spPr>
          <a:xfrm>
            <a:off x="8321562" y="4825448"/>
            <a:ext cx="1218853" cy="56365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1" dirty="0"/>
              <a:t>Distance matrix</a:t>
            </a:r>
          </a:p>
          <a:p>
            <a:pPr algn="ctr"/>
            <a:r>
              <a:rPr lang="en-GB" sz="1001" dirty="0"/>
              <a:t>(binary,</a:t>
            </a:r>
          </a:p>
          <a:p>
            <a:pPr algn="ctr"/>
            <a:r>
              <a:rPr lang="en-GB" sz="1001" dirty="0"/>
              <a:t>.</a:t>
            </a:r>
            <a:r>
              <a:rPr lang="en-GB" sz="1001" dirty="0" err="1"/>
              <a:t>KPopDMatrix</a:t>
            </a:r>
            <a:r>
              <a:rPr lang="en-GB" sz="1001" dirty="0"/>
              <a:t>) </a:t>
            </a: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2A2ED9AB-9B25-3314-7D00-D29B44504A43}"/>
              </a:ext>
            </a:extLst>
          </p:cNvPr>
          <p:cNvSpPr/>
          <p:nvPr/>
        </p:nvSpPr>
        <p:spPr>
          <a:xfrm>
            <a:off x="6778574" y="4803483"/>
            <a:ext cx="1322623" cy="6028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 err="1"/>
              <a:t>KPopTwistDB</a:t>
            </a:r>
            <a:endParaRPr lang="en-GB" sz="1001" dirty="0"/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A8756D6C-1DAB-DCE4-B651-DCD2726FF368}"/>
              </a:ext>
            </a:extLst>
          </p:cNvPr>
          <p:cNvCxnSpPr>
            <a:cxnSpLocks/>
            <a:stCxn id="188" idx="3"/>
            <a:endCxn id="185" idx="2"/>
          </p:cNvCxnSpPr>
          <p:nvPr/>
        </p:nvCxnSpPr>
        <p:spPr>
          <a:xfrm flipV="1">
            <a:off x="6531054" y="5104897"/>
            <a:ext cx="247520" cy="345527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4AAB3377-89C3-4D28-D06E-8493300443C6}"/>
              </a:ext>
            </a:extLst>
          </p:cNvPr>
          <p:cNvCxnSpPr>
            <a:cxnSpLocks/>
            <a:stCxn id="185" idx="6"/>
            <a:endCxn id="184" idx="1"/>
          </p:cNvCxnSpPr>
          <p:nvPr/>
        </p:nvCxnSpPr>
        <p:spPr>
          <a:xfrm>
            <a:off x="8101197" y="5104897"/>
            <a:ext cx="220365" cy="2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8" name="Rectangle 187">
            <a:extLst>
              <a:ext uri="{FF2B5EF4-FFF2-40B4-BE49-F238E27FC236}">
                <a16:creationId xmlns:a16="http://schemas.microsoft.com/office/drawing/2014/main" id="{CD3B1302-2A0F-DD80-370B-D0EAFFD90361}"/>
              </a:ext>
            </a:extLst>
          </p:cNvPr>
          <p:cNvSpPr/>
          <p:nvPr/>
        </p:nvSpPr>
        <p:spPr>
          <a:xfrm>
            <a:off x="5306327" y="5168595"/>
            <a:ext cx="1224727" cy="56365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1" dirty="0"/>
              <a:t>Twisted spectra</a:t>
            </a:r>
          </a:p>
          <a:p>
            <a:pPr algn="ctr"/>
            <a:r>
              <a:rPr lang="en-GB" sz="1001" dirty="0"/>
              <a:t>(binary,</a:t>
            </a:r>
          </a:p>
          <a:p>
            <a:pPr algn="ctr"/>
            <a:r>
              <a:rPr lang="en-GB" sz="1001" dirty="0"/>
              <a:t>.</a:t>
            </a:r>
            <a:r>
              <a:rPr lang="en-GB" sz="1001" dirty="0" err="1"/>
              <a:t>KPopTwisted</a:t>
            </a:r>
            <a:r>
              <a:rPr lang="en-GB" sz="1001" dirty="0"/>
              <a:t>) 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4C3C15FB-FB4C-32F3-DC91-4910857533F0}"/>
              </a:ext>
            </a:extLst>
          </p:cNvPr>
          <p:cNvSpPr/>
          <p:nvPr/>
        </p:nvSpPr>
        <p:spPr>
          <a:xfrm>
            <a:off x="5301570" y="4447442"/>
            <a:ext cx="1218853" cy="56365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1" dirty="0"/>
              <a:t>Twisted spectra</a:t>
            </a:r>
          </a:p>
          <a:p>
            <a:pPr algn="ctr"/>
            <a:r>
              <a:rPr lang="en-GB" sz="1001" dirty="0"/>
              <a:t>(binary,</a:t>
            </a:r>
          </a:p>
          <a:p>
            <a:pPr algn="ctr"/>
            <a:r>
              <a:rPr lang="en-GB" sz="1001" dirty="0"/>
              <a:t>.</a:t>
            </a:r>
            <a:r>
              <a:rPr lang="en-GB" sz="1001" dirty="0" err="1"/>
              <a:t>KPopTwisted</a:t>
            </a:r>
            <a:r>
              <a:rPr lang="en-GB" sz="1001" dirty="0"/>
              <a:t>) </a:t>
            </a:r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D4A41B66-DC58-DE06-47A3-006EDB47A90F}"/>
              </a:ext>
            </a:extLst>
          </p:cNvPr>
          <p:cNvCxnSpPr>
            <a:stCxn id="189" idx="3"/>
            <a:endCxn id="185" idx="2"/>
          </p:cNvCxnSpPr>
          <p:nvPr/>
        </p:nvCxnSpPr>
        <p:spPr>
          <a:xfrm>
            <a:off x="6520423" y="4729271"/>
            <a:ext cx="258151" cy="3756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1" name="Oval 190">
            <a:extLst>
              <a:ext uri="{FF2B5EF4-FFF2-40B4-BE49-F238E27FC236}">
                <a16:creationId xmlns:a16="http://schemas.microsoft.com/office/drawing/2014/main" id="{1AA2D787-0357-A109-2CEB-06F67249239A}"/>
              </a:ext>
            </a:extLst>
          </p:cNvPr>
          <p:cNvSpPr/>
          <p:nvPr/>
        </p:nvSpPr>
        <p:spPr>
          <a:xfrm>
            <a:off x="6771369" y="5929632"/>
            <a:ext cx="1322623" cy="6028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 err="1"/>
              <a:t>KPopTwistDB</a:t>
            </a:r>
            <a:endParaRPr lang="en-GB" sz="1001" dirty="0"/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C03CF594-06EA-AEF5-6CB5-7EDBF0A9337C}"/>
              </a:ext>
            </a:extLst>
          </p:cNvPr>
          <p:cNvCxnSpPr>
            <a:cxnSpLocks/>
            <a:stCxn id="194" idx="3"/>
            <a:endCxn id="191" idx="2"/>
          </p:cNvCxnSpPr>
          <p:nvPr/>
        </p:nvCxnSpPr>
        <p:spPr>
          <a:xfrm>
            <a:off x="6526297" y="6231045"/>
            <a:ext cx="245072" cy="1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1912C7A5-9726-E57D-4981-7A08DF9C3380}"/>
              </a:ext>
            </a:extLst>
          </p:cNvPr>
          <p:cNvCxnSpPr>
            <a:cxnSpLocks/>
            <a:stCxn id="191" idx="6"/>
            <a:endCxn id="195" idx="1"/>
          </p:cNvCxnSpPr>
          <p:nvPr/>
        </p:nvCxnSpPr>
        <p:spPr>
          <a:xfrm flipV="1">
            <a:off x="8093992" y="6231045"/>
            <a:ext cx="227633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4" name="Rectangle 193">
            <a:extLst>
              <a:ext uri="{FF2B5EF4-FFF2-40B4-BE49-F238E27FC236}">
                <a16:creationId xmlns:a16="http://schemas.microsoft.com/office/drawing/2014/main" id="{14CACAC9-4DFB-5EB9-CA74-5882B4FEAB0B}"/>
              </a:ext>
            </a:extLst>
          </p:cNvPr>
          <p:cNvSpPr/>
          <p:nvPr/>
        </p:nvSpPr>
        <p:spPr>
          <a:xfrm>
            <a:off x="5301570" y="5949216"/>
            <a:ext cx="1224727" cy="56365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1"/>
              <a:t>Distance matrix</a:t>
            </a:r>
          </a:p>
          <a:p>
            <a:pPr algn="ctr"/>
            <a:r>
              <a:rPr lang="en-GB" sz="1001"/>
              <a:t>(binary,</a:t>
            </a:r>
          </a:p>
          <a:p>
            <a:pPr algn="ctr"/>
            <a:r>
              <a:rPr lang="en-GB" sz="1001"/>
              <a:t>.KPopDMatrix) </a:t>
            </a:r>
            <a:endParaRPr lang="en-GB" sz="1001" dirty="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7B310C27-68D5-8629-1BDC-8EF50F4186CD}"/>
              </a:ext>
            </a:extLst>
          </p:cNvPr>
          <p:cNvSpPr/>
          <p:nvPr/>
        </p:nvSpPr>
        <p:spPr>
          <a:xfrm>
            <a:off x="8321625" y="5949216"/>
            <a:ext cx="1214031" cy="5636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/>
              <a:t>Distance summary</a:t>
            </a:r>
          </a:p>
          <a:p>
            <a:pPr algn="ctr"/>
            <a:r>
              <a:rPr lang="en-GB" sz="1001" dirty="0"/>
              <a:t>(tab-separated,</a:t>
            </a:r>
          </a:p>
          <a:p>
            <a:pPr algn="ctr"/>
            <a:r>
              <a:rPr lang="en-GB" sz="1001" dirty="0"/>
              <a:t>.KPopSummary.txt) </a:t>
            </a: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0387122C-A5C3-FADD-B3CA-D750D3ECFFFE}"/>
              </a:ext>
            </a:extLst>
          </p:cNvPr>
          <p:cNvCxnSpPr/>
          <p:nvPr/>
        </p:nvCxnSpPr>
        <p:spPr>
          <a:xfrm>
            <a:off x="4953000" y="-223838"/>
            <a:ext cx="0" cy="7367588"/>
          </a:xfrm>
          <a:prstGeom prst="line">
            <a:avLst/>
          </a:prstGeom>
          <a:ln>
            <a:prstDash val="lg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70437FB2-3FA1-847B-37DB-C93CD920625E}"/>
              </a:ext>
            </a:extLst>
          </p:cNvPr>
          <p:cNvCxnSpPr/>
          <p:nvPr/>
        </p:nvCxnSpPr>
        <p:spPr>
          <a:xfrm>
            <a:off x="-390525" y="2100233"/>
            <a:ext cx="10982325" cy="0"/>
          </a:xfrm>
          <a:prstGeom prst="line">
            <a:avLst/>
          </a:prstGeom>
          <a:ln>
            <a:prstDash val="lg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50E7ADBD-A93F-ED65-0D8E-BAA74ABD6E1F}"/>
              </a:ext>
            </a:extLst>
          </p:cNvPr>
          <p:cNvSpPr txBox="1"/>
          <p:nvPr/>
        </p:nvSpPr>
        <p:spPr>
          <a:xfrm>
            <a:off x="274890" y="138058"/>
            <a:ext cx="20369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chemeClr val="accent2"/>
                </a:solidFill>
              </a:rPr>
              <a:t>KPopCount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38078781-1269-A1B5-85B7-4EB71E13705A}"/>
              </a:ext>
            </a:extLst>
          </p:cNvPr>
          <p:cNvSpPr txBox="1"/>
          <p:nvPr/>
        </p:nvSpPr>
        <p:spPr>
          <a:xfrm>
            <a:off x="276213" y="2193989"/>
            <a:ext cx="25130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chemeClr val="accent2"/>
                </a:solidFill>
              </a:rPr>
              <a:t>KPopCountDB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189A596C-38B0-7CEF-6469-40948E08EFE9}"/>
              </a:ext>
            </a:extLst>
          </p:cNvPr>
          <p:cNvSpPr txBox="1"/>
          <p:nvPr/>
        </p:nvSpPr>
        <p:spPr>
          <a:xfrm>
            <a:off x="5180132" y="138058"/>
            <a:ext cx="18986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chemeClr val="accent2"/>
                </a:solidFill>
              </a:rPr>
              <a:t>KPopTwist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0F9C2A94-B7C9-F72C-7845-90AA62145752}"/>
              </a:ext>
            </a:extLst>
          </p:cNvPr>
          <p:cNvSpPr txBox="1"/>
          <p:nvPr/>
        </p:nvSpPr>
        <p:spPr>
          <a:xfrm>
            <a:off x="5175369" y="2193071"/>
            <a:ext cx="23747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chemeClr val="accent2"/>
                </a:solidFill>
              </a:rPr>
              <a:t>KPopTwistDB</a:t>
            </a:r>
            <a:endParaRPr lang="en-GB" sz="32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940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8477</TotalTime>
  <Words>168</Words>
  <Application>Microsoft Office PowerPoint</Application>
  <PresentationFormat>A4 Paper (210x297 mm)</PresentationFormat>
  <Paragraphs>64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Paolo Ribeca</dc:creator>
  <cp:lastModifiedBy>Paolo Ribeca</cp:lastModifiedBy>
  <cp:revision>50</cp:revision>
  <dcterms:created xsi:type="dcterms:W3CDTF">2023-06-11T13:47:15Z</dcterms:created>
  <dcterms:modified xsi:type="dcterms:W3CDTF">2023-06-18T02:10:34Z</dcterms:modified>
</cp:coreProperties>
</file>