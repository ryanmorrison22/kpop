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6" d="100"/>
          <a:sy n="66" d="100"/>
        </p:scale>
        <p:origin x="33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5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3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1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92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84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50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8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11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25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1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4453469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1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4453469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35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995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95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883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8" indent="0">
              <a:buNone/>
              <a:defRPr sz="750"/>
            </a:lvl7pPr>
            <a:lvl8pPr marL="2400181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91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3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8" indent="0">
              <a:buNone/>
              <a:defRPr sz="1500"/>
            </a:lvl7pPr>
            <a:lvl8pPr marL="2400181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883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8" indent="0">
              <a:buNone/>
              <a:defRPr sz="750"/>
            </a:lvl7pPr>
            <a:lvl8pPr marL="2400181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9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56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45CC1-0958-4856-BFA7-DB597C62ADE2}" type="datetimeFigureOut">
              <a:rPr lang="en-GB" smtClean="0"/>
              <a:t>17/06/2023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3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6A4F7-CB39-4B1B-9D25-E8546BFCF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87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4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3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1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1D5201E8-D022-5175-CBAA-10D9086FAB9F}"/>
              </a:ext>
            </a:extLst>
          </p:cNvPr>
          <p:cNvCxnSpPr>
            <a:stCxn id="58" idx="3"/>
            <a:endCxn id="124" idx="2"/>
          </p:cNvCxnSpPr>
          <p:nvPr/>
        </p:nvCxnSpPr>
        <p:spPr>
          <a:xfrm>
            <a:off x="3464491" y="5456477"/>
            <a:ext cx="1201362" cy="2456557"/>
          </a:xfrm>
          <a:prstGeom prst="bentConnector3">
            <a:avLst>
              <a:gd name="adj1" fmla="val 50604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6AC40463-4589-FE37-DA00-85DB6F34E42F}"/>
              </a:ext>
            </a:extLst>
          </p:cNvPr>
          <p:cNvCxnSpPr>
            <a:stCxn id="58" idx="1"/>
            <a:endCxn id="93" idx="2"/>
          </p:cNvCxnSpPr>
          <p:nvPr/>
        </p:nvCxnSpPr>
        <p:spPr>
          <a:xfrm rot="10800000" flipH="1" flipV="1">
            <a:off x="553512" y="5456477"/>
            <a:ext cx="929433" cy="5796990"/>
          </a:xfrm>
          <a:prstGeom prst="bentConnector3">
            <a:avLst>
              <a:gd name="adj1" fmla="val -25377"/>
            </a:avLst>
          </a:prstGeom>
          <a:ln w="19050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57E95A6C-F6E5-FDED-C53F-776648E6058F}"/>
              </a:ext>
            </a:extLst>
          </p:cNvPr>
          <p:cNvCxnSpPr>
            <a:stCxn id="59" idx="3"/>
            <a:endCxn id="124" idx="2"/>
          </p:cNvCxnSpPr>
          <p:nvPr/>
        </p:nvCxnSpPr>
        <p:spPr>
          <a:xfrm flipV="1">
            <a:off x="3439884" y="7913034"/>
            <a:ext cx="1225969" cy="2177139"/>
          </a:xfrm>
          <a:prstGeom prst="bentConnector3">
            <a:avLst>
              <a:gd name="adj1" fmla="val 5118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Elbow Connector 97"/>
          <p:cNvCxnSpPr>
            <a:stCxn id="64" idx="2"/>
            <a:endCxn id="93" idx="0"/>
          </p:cNvCxnSpPr>
          <p:nvPr/>
        </p:nvCxnSpPr>
        <p:spPr>
          <a:xfrm rot="5400000">
            <a:off x="1638789" y="9792138"/>
            <a:ext cx="1566398" cy="753434"/>
          </a:xfrm>
          <a:prstGeom prst="bentConnector3">
            <a:avLst>
              <a:gd name="adj1" fmla="val 8867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Elbow Connector 94"/>
          <p:cNvCxnSpPr>
            <a:endCxn id="93" idx="0"/>
          </p:cNvCxnSpPr>
          <p:nvPr/>
        </p:nvCxnSpPr>
        <p:spPr>
          <a:xfrm rot="16200000" flipH="1">
            <a:off x="845375" y="9752157"/>
            <a:ext cx="1566397" cy="833395"/>
          </a:xfrm>
          <a:prstGeom prst="bentConnector3">
            <a:avLst>
              <a:gd name="adj1" fmla="val 8867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9769990B-EC88-B823-3443-E04DE390811D}"/>
              </a:ext>
            </a:extLst>
          </p:cNvPr>
          <p:cNvSpPr/>
          <p:nvPr/>
        </p:nvSpPr>
        <p:spPr>
          <a:xfrm>
            <a:off x="557532" y="9498223"/>
            <a:ext cx="2882352" cy="11839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22BD682B-2A79-7E83-304E-58F335438300}"/>
              </a:ext>
            </a:extLst>
          </p:cNvPr>
          <p:cNvCxnSpPr>
            <a:endCxn id="60" idx="0"/>
          </p:cNvCxnSpPr>
          <p:nvPr/>
        </p:nvCxnSpPr>
        <p:spPr>
          <a:xfrm rot="5400000">
            <a:off x="1283676" y="5151036"/>
            <a:ext cx="2257312" cy="734124"/>
          </a:xfrm>
          <a:prstGeom prst="bentConnector3">
            <a:avLst>
              <a:gd name="adj1" fmla="val 9337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83BC208E-C767-8FD0-AE32-2B57790F087D}"/>
              </a:ext>
            </a:extLst>
          </p:cNvPr>
          <p:cNvCxnSpPr>
            <a:stCxn id="13" idx="2"/>
            <a:endCxn id="60" idx="0"/>
          </p:cNvCxnSpPr>
          <p:nvPr/>
        </p:nvCxnSpPr>
        <p:spPr>
          <a:xfrm rot="16200000" flipH="1">
            <a:off x="506360" y="5107842"/>
            <a:ext cx="2240407" cy="837416"/>
          </a:xfrm>
          <a:prstGeom prst="bentConnector3">
            <a:avLst>
              <a:gd name="adj1" fmla="val 9336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40EDAD8B-FA57-FCAD-1EE5-12F52A1963F9}"/>
              </a:ext>
            </a:extLst>
          </p:cNvPr>
          <p:cNvSpPr/>
          <p:nvPr/>
        </p:nvSpPr>
        <p:spPr>
          <a:xfrm>
            <a:off x="553513" y="4512956"/>
            <a:ext cx="2910978" cy="18870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DBF66F-1F1A-0538-E821-E20719D376A3}"/>
              </a:ext>
            </a:extLst>
          </p:cNvPr>
          <p:cNvSpPr/>
          <p:nvPr/>
        </p:nvSpPr>
        <p:spPr>
          <a:xfrm>
            <a:off x="753803" y="713272"/>
            <a:ext cx="953200" cy="4577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Sequence(s)</a:t>
            </a:r>
            <a:br>
              <a:rPr lang="en-GB" sz="1001" dirty="0"/>
            </a:br>
            <a:r>
              <a:rPr lang="en-GB" sz="1001" dirty="0"/>
              <a:t>(.</a:t>
            </a:r>
            <a:r>
              <a:rPr lang="en-GB" sz="1001" dirty="0" err="1"/>
              <a:t>fasta</a:t>
            </a:r>
            <a:r>
              <a:rPr lang="en-GB" sz="1001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47B5E9-6370-39DD-C13E-40D7E969C00B}"/>
              </a:ext>
            </a:extLst>
          </p:cNvPr>
          <p:cNvSpPr/>
          <p:nvPr/>
        </p:nvSpPr>
        <p:spPr>
          <a:xfrm>
            <a:off x="2316514" y="713272"/>
            <a:ext cx="953200" cy="4577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Reads</a:t>
            </a:r>
            <a:br>
              <a:rPr lang="en-GB" sz="1001" dirty="0"/>
            </a:br>
            <a:r>
              <a:rPr lang="en-GB" sz="1001" dirty="0"/>
              <a:t>(.</a:t>
            </a:r>
            <a:r>
              <a:rPr lang="en-GB" sz="1001" dirty="0" err="1"/>
              <a:t>fastq</a:t>
            </a:r>
            <a:r>
              <a:rPr lang="en-GB" sz="1001" dirty="0"/>
              <a:t>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8C33CC-4EB1-8965-4EBE-1B21706C4597}"/>
              </a:ext>
            </a:extLst>
          </p:cNvPr>
          <p:cNvSpPr/>
          <p:nvPr/>
        </p:nvSpPr>
        <p:spPr>
          <a:xfrm>
            <a:off x="1478927" y="1331436"/>
            <a:ext cx="1124648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 err="1"/>
              <a:t>KPopCount</a:t>
            </a:r>
            <a:endParaRPr lang="en-GB" sz="1001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8DB0E9A-6898-E54F-9D4D-5F089F49C613}"/>
              </a:ext>
            </a:extLst>
          </p:cNvPr>
          <p:cNvCxnSpPr>
            <a:stCxn id="2" idx="2"/>
            <a:endCxn id="4" idx="2"/>
          </p:cNvCxnSpPr>
          <p:nvPr/>
        </p:nvCxnSpPr>
        <p:spPr>
          <a:xfrm rot="16200000" flipH="1">
            <a:off x="1123734" y="1277662"/>
            <a:ext cx="461854" cy="24852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AA55597-FC76-CCC2-0469-950210D43088}"/>
              </a:ext>
            </a:extLst>
          </p:cNvPr>
          <p:cNvCxnSpPr>
            <a:stCxn id="3" idx="2"/>
            <a:endCxn id="4" idx="6"/>
          </p:cNvCxnSpPr>
          <p:nvPr/>
        </p:nvCxnSpPr>
        <p:spPr>
          <a:xfrm rot="5400000">
            <a:off x="2467416" y="1307155"/>
            <a:ext cx="461854" cy="18954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F37CB85-BFB5-B21B-E104-3B8170E8B26E}"/>
              </a:ext>
            </a:extLst>
          </p:cNvPr>
          <p:cNvSpPr/>
          <p:nvPr/>
        </p:nvSpPr>
        <p:spPr>
          <a:xfrm>
            <a:off x="729681" y="2230151"/>
            <a:ext cx="956345" cy="21761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br>
              <a:rPr lang="en-GB" sz="1001" dirty="0"/>
            </a:br>
            <a:r>
              <a:rPr lang="en-GB" sz="1001" dirty="0"/>
              <a:t>spectrum 1: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…</a:t>
            </a:r>
          </a:p>
          <a:p>
            <a:pPr algn="ctr"/>
            <a:r>
              <a:rPr lang="en-GB" sz="1001" dirty="0"/>
              <a:t>01f2e9   10</a:t>
            </a:r>
          </a:p>
          <a:p>
            <a:pPr algn="ctr"/>
            <a:r>
              <a:rPr lang="en-GB" sz="1001" dirty="0"/>
              <a:t>01f2ea   12</a:t>
            </a:r>
          </a:p>
          <a:p>
            <a:pPr algn="ctr"/>
            <a:r>
              <a:rPr lang="en-GB" sz="1001" dirty="0"/>
              <a:t>01f2eb   72</a:t>
            </a:r>
          </a:p>
          <a:p>
            <a:pPr algn="ctr"/>
            <a:r>
              <a:rPr lang="en-GB" sz="1001" dirty="0"/>
              <a:t>…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(very long</a:t>
            </a:r>
          </a:p>
          <a:p>
            <a:pPr algn="ctr"/>
            <a:r>
              <a:rPr lang="en-GB" sz="1001" dirty="0"/>
              <a:t>vector with</a:t>
            </a:r>
          </a:p>
          <a:p>
            <a:pPr algn="ctr"/>
            <a:r>
              <a:rPr lang="en-GB" sz="1001" dirty="0"/>
              <a:t>millions of</a:t>
            </a:r>
          </a:p>
          <a:p>
            <a:pPr algn="ctr"/>
            <a:r>
              <a:rPr lang="en-GB" sz="1001" dirty="0"/>
              <a:t>components)</a:t>
            </a:r>
            <a:endParaRPr lang="en-GB" sz="1702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662707-285F-E83A-EE66-141FDED969B8}"/>
              </a:ext>
            </a:extLst>
          </p:cNvPr>
          <p:cNvSpPr/>
          <p:nvPr/>
        </p:nvSpPr>
        <p:spPr>
          <a:xfrm>
            <a:off x="2316513" y="2230152"/>
            <a:ext cx="956345" cy="2176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i="1" dirty="0"/>
              <a:t>k</a:t>
            </a:r>
            <a:r>
              <a:rPr lang="en-GB" sz="1001" dirty="0"/>
              <a:t>-</a:t>
            </a:r>
            <a:r>
              <a:rPr lang="en-GB" sz="1001" dirty="0" err="1"/>
              <a:t>mer</a:t>
            </a:r>
            <a:br>
              <a:rPr lang="en-GB" sz="1001" dirty="0"/>
            </a:br>
            <a:r>
              <a:rPr lang="en-GB" sz="1001" dirty="0"/>
              <a:t>spectrum N: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…</a:t>
            </a:r>
          </a:p>
          <a:p>
            <a:pPr algn="ctr"/>
            <a:r>
              <a:rPr lang="en-GB" sz="1001" dirty="0"/>
              <a:t>01f2e9   10</a:t>
            </a:r>
          </a:p>
          <a:p>
            <a:pPr algn="ctr"/>
            <a:r>
              <a:rPr lang="en-GB" sz="1001" dirty="0"/>
              <a:t>01f2ea   10</a:t>
            </a:r>
          </a:p>
          <a:p>
            <a:pPr algn="ctr"/>
            <a:r>
              <a:rPr lang="en-GB" sz="1001" dirty="0"/>
              <a:t>01f2eb   43</a:t>
            </a:r>
          </a:p>
          <a:p>
            <a:pPr algn="ctr"/>
            <a:r>
              <a:rPr lang="en-GB" sz="1001" dirty="0"/>
              <a:t>…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(very long</a:t>
            </a:r>
          </a:p>
          <a:p>
            <a:pPr algn="ctr"/>
            <a:r>
              <a:rPr lang="en-GB" sz="1001" dirty="0"/>
              <a:t>vector with</a:t>
            </a:r>
          </a:p>
          <a:p>
            <a:pPr algn="ctr"/>
            <a:r>
              <a:rPr lang="en-GB" sz="1001" dirty="0"/>
              <a:t>millions of</a:t>
            </a:r>
          </a:p>
          <a:p>
            <a:pPr algn="ctr"/>
            <a:r>
              <a:rPr lang="en-GB" sz="1001" dirty="0"/>
              <a:t>components)</a:t>
            </a:r>
            <a:endParaRPr lang="en-GB" sz="1702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C3A044A-17C9-66FB-A8ED-DF1E2BDCDD5C}"/>
              </a:ext>
            </a:extLst>
          </p:cNvPr>
          <p:cNvCxnSpPr>
            <a:stCxn id="4" idx="4"/>
            <a:endCxn id="13" idx="0"/>
          </p:cNvCxnSpPr>
          <p:nvPr/>
        </p:nvCxnSpPr>
        <p:spPr>
          <a:xfrm rot="5400000">
            <a:off x="1476610" y="1665512"/>
            <a:ext cx="295886" cy="83339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E7957F0-17BB-F64E-1A7C-88E8B16DCDDA}"/>
              </a:ext>
            </a:extLst>
          </p:cNvPr>
          <p:cNvCxnSpPr>
            <a:stCxn id="4" idx="4"/>
            <a:endCxn id="14" idx="0"/>
          </p:cNvCxnSpPr>
          <p:nvPr/>
        </p:nvCxnSpPr>
        <p:spPr>
          <a:xfrm rot="16200000" flipH="1">
            <a:off x="2270021" y="1705491"/>
            <a:ext cx="295888" cy="75343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20FF744-CF26-B6E5-4580-6507256B1D77}"/>
              </a:ext>
            </a:extLst>
          </p:cNvPr>
          <p:cNvSpPr txBox="1"/>
          <p:nvPr/>
        </p:nvSpPr>
        <p:spPr>
          <a:xfrm>
            <a:off x="1844764" y="3148746"/>
            <a:ext cx="335560" cy="354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702" dirty="0"/>
              <a:t>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234B3C-99E4-EA8E-CDA2-71995A8D694F}"/>
              </a:ext>
            </a:extLst>
          </p:cNvPr>
          <p:cNvSpPr txBox="1"/>
          <p:nvPr/>
        </p:nvSpPr>
        <p:spPr>
          <a:xfrm>
            <a:off x="1037869" y="4566004"/>
            <a:ext cx="20593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FF0000"/>
                </a:solidFill>
              </a:rPr>
              <a:t>Embedding 1 – </a:t>
            </a:r>
            <a:r>
              <a:rPr lang="en-GB" sz="1200" i="1" dirty="0">
                <a:solidFill>
                  <a:srgbClr val="FF0000"/>
                </a:solidFill>
              </a:rPr>
              <a:t>k</a:t>
            </a:r>
            <a:r>
              <a:rPr lang="en-GB" sz="1200" dirty="0">
                <a:solidFill>
                  <a:srgbClr val="FF0000"/>
                </a:solidFill>
              </a:rPr>
              <a:t>-</a:t>
            </a:r>
            <a:r>
              <a:rPr lang="en-GB" sz="1200" dirty="0" err="1">
                <a:solidFill>
                  <a:srgbClr val="FF0000"/>
                </a:solidFill>
              </a:rPr>
              <a:t>mer</a:t>
            </a:r>
            <a:r>
              <a:rPr lang="en-GB" sz="1200" dirty="0">
                <a:solidFill>
                  <a:srgbClr val="FF0000"/>
                </a:solidFill>
              </a:rPr>
              <a:t> space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02A8525-B639-E034-32DF-A45A2870B1E8}"/>
              </a:ext>
            </a:extLst>
          </p:cNvPr>
          <p:cNvSpPr/>
          <p:nvPr/>
        </p:nvSpPr>
        <p:spPr>
          <a:xfrm>
            <a:off x="1478928" y="5187570"/>
            <a:ext cx="89657" cy="9227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74DA061-4A7B-6508-77D9-928C3E810512}"/>
              </a:ext>
            </a:extLst>
          </p:cNvPr>
          <p:cNvSpPr/>
          <p:nvPr/>
        </p:nvSpPr>
        <p:spPr>
          <a:xfrm>
            <a:off x="2545729" y="4979243"/>
            <a:ext cx="89657" cy="9227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1E7ECD9-C37D-2A19-AC76-A571B29C13E3}"/>
              </a:ext>
            </a:extLst>
          </p:cNvPr>
          <p:cNvSpPr/>
          <p:nvPr/>
        </p:nvSpPr>
        <p:spPr>
          <a:xfrm>
            <a:off x="1094430" y="5910425"/>
            <a:ext cx="89657" cy="9227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4D29DF-8688-F7E0-90E6-7DEC638F8067}"/>
              </a:ext>
            </a:extLst>
          </p:cNvPr>
          <p:cNvSpPr/>
          <p:nvPr/>
        </p:nvSpPr>
        <p:spPr>
          <a:xfrm>
            <a:off x="2067556" y="6195646"/>
            <a:ext cx="89657" cy="9227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94DA2E8-C50E-F6E9-9BFE-3348CE663CE2}"/>
              </a:ext>
            </a:extLst>
          </p:cNvPr>
          <p:cNvSpPr/>
          <p:nvPr/>
        </p:nvSpPr>
        <p:spPr>
          <a:xfrm>
            <a:off x="2856122" y="5751032"/>
            <a:ext cx="89657" cy="9227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69DB3B-E2C0-1E60-E829-FEDA82622E87}"/>
              </a:ext>
            </a:extLst>
          </p:cNvPr>
          <p:cNvCxnSpPr/>
          <p:nvPr/>
        </p:nvCxnSpPr>
        <p:spPr>
          <a:xfrm>
            <a:off x="2067556" y="5682518"/>
            <a:ext cx="478173" cy="3201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7744D9-61FC-2EA9-5901-9CAA27E80133}"/>
              </a:ext>
            </a:extLst>
          </p:cNvPr>
          <p:cNvCxnSpPr/>
          <p:nvPr/>
        </p:nvCxnSpPr>
        <p:spPr>
          <a:xfrm flipV="1">
            <a:off x="2067551" y="5317598"/>
            <a:ext cx="314763" cy="374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26FDD76-F10A-4674-E155-BAC93CCBD794}"/>
              </a:ext>
            </a:extLst>
          </p:cNvPr>
          <p:cNvCxnSpPr/>
          <p:nvPr/>
        </p:nvCxnSpPr>
        <p:spPr>
          <a:xfrm flipH="1" flipV="1">
            <a:off x="2041251" y="5010002"/>
            <a:ext cx="26303" cy="672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E596D9-0765-FF33-5638-8CC82F2CE015}"/>
              </a:ext>
            </a:extLst>
          </p:cNvPr>
          <p:cNvCxnSpPr/>
          <p:nvPr/>
        </p:nvCxnSpPr>
        <p:spPr>
          <a:xfrm flipH="1" flipV="1">
            <a:off x="1844762" y="5279846"/>
            <a:ext cx="222790" cy="4124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06B3CF-1453-BF4D-0A52-E8F14B6FDCFB}"/>
              </a:ext>
            </a:extLst>
          </p:cNvPr>
          <p:cNvCxnSpPr/>
          <p:nvPr/>
        </p:nvCxnSpPr>
        <p:spPr>
          <a:xfrm flipH="1">
            <a:off x="2041251" y="5692308"/>
            <a:ext cx="26303" cy="2894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FDE1A3B-F897-F3DD-4E38-2AB19ED918F5}"/>
              </a:ext>
            </a:extLst>
          </p:cNvPr>
          <p:cNvCxnSpPr/>
          <p:nvPr/>
        </p:nvCxnSpPr>
        <p:spPr>
          <a:xfrm flipH="1">
            <a:off x="1589381" y="5682521"/>
            <a:ext cx="478173" cy="5454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C3FE263-63FF-D6A4-0272-DE81C138AFD7}"/>
              </a:ext>
            </a:extLst>
          </p:cNvPr>
          <p:cNvCxnSpPr/>
          <p:nvPr/>
        </p:nvCxnSpPr>
        <p:spPr>
          <a:xfrm flipH="1">
            <a:off x="1752790" y="5682520"/>
            <a:ext cx="314763" cy="68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60ED6EA-7284-8BF2-25F7-328795923355}"/>
              </a:ext>
            </a:extLst>
          </p:cNvPr>
          <p:cNvCxnSpPr/>
          <p:nvPr/>
        </p:nvCxnSpPr>
        <p:spPr>
          <a:xfrm flipH="1" flipV="1">
            <a:off x="1417582" y="5467070"/>
            <a:ext cx="649973" cy="2154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2192680-34E2-F43A-10BC-F173619C4105}"/>
              </a:ext>
            </a:extLst>
          </p:cNvPr>
          <p:cNvCxnSpPr/>
          <p:nvPr/>
        </p:nvCxnSpPr>
        <p:spPr>
          <a:xfrm>
            <a:off x="2067551" y="5671332"/>
            <a:ext cx="407040" cy="796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4702D76D-9A41-ECB8-045A-2AAB7EAAB068}"/>
              </a:ext>
            </a:extLst>
          </p:cNvPr>
          <p:cNvCxnSpPr>
            <a:cxnSpLocks/>
            <a:stCxn id="13" idx="1"/>
            <a:endCxn id="25" idx="2"/>
          </p:cNvCxnSpPr>
          <p:nvPr/>
        </p:nvCxnSpPr>
        <p:spPr>
          <a:xfrm rot="10800000" flipH="1" flipV="1">
            <a:off x="729681" y="3318250"/>
            <a:ext cx="364747" cy="2638309"/>
          </a:xfrm>
          <a:prstGeom prst="bentConnector3">
            <a:avLst>
              <a:gd name="adj1" fmla="val -62674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DC4B6EAB-16D8-D53E-9007-2EF2A2D23E95}"/>
              </a:ext>
            </a:extLst>
          </p:cNvPr>
          <p:cNvCxnSpPr>
            <a:stCxn id="14" idx="3"/>
            <a:endCxn id="27" idx="6"/>
          </p:cNvCxnSpPr>
          <p:nvPr/>
        </p:nvCxnSpPr>
        <p:spPr>
          <a:xfrm flipH="1">
            <a:off x="2945771" y="3318251"/>
            <a:ext cx="327083" cy="2478919"/>
          </a:xfrm>
          <a:prstGeom prst="bentConnector3">
            <a:avLst>
              <a:gd name="adj1" fmla="val -69891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71CC02B-958D-11B5-FF61-F00910E30F7C}"/>
              </a:ext>
            </a:extLst>
          </p:cNvPr>
          <p:cNvSpPr txBox="1"/>
          <p:nvPr/>
        </p:nvSpPr>
        <p:spPr>
          <a:xfrm>
            <a:off x="-118716" y="5470736"/>
            <a:ext cx="2059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FF0000"/>
                </a:solidFill>
              </a:rPr>
              <a:t>Sample /</a:t>
            </a:r>
            <a:br>
              <a:rPr lang="en-GB" sz="1200" dirty="0">
                <a:solidFill>
                  <a:srgbClr val="FF0000"/>
                </a:solidFill>
              </a:rPr>
            </a:br>
            <a:r>
              <a:rPr lang="en-GB" sz="1200" dirty="0">
                <a:solidFill>
                  <a:srgbClr val="FF0000"/>
                </a:solidFill>
              </a:rPr>
              <a:t>Sequence 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A4541F-5FAD-BC6E-1F5B-858091241061}"/>
              </a:ext>
            </a:extLst>
          </p:cNvPr>
          <p:cNvSpPr txBox="1"/>
          <p:nvPr/>
        </p:nvSpPr>
        <p:spPr>
          <a:xfrm>
            <a:off x="2005967" y="5315929"/>
            <a:ext cx="2059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rgbClr val="FF0000"/>
                </a:solidFill>
              </a:rPr>
              <a:t>Sample /</a:t>
            </a:r>
            <a:br>
              <a:rPr lang="en-GB" sz="1200" dirty="0">
                <a:solidFill>
                  <a:srgbClr val="FF0000"/>
                </a:solidFill>
              </a:rPr>
            </a:br>
            <a:r>
              <a:rPr lang="en-GB" sz="1200" dirty="0">
                <a:solidFill>
                  <a:srgbClr val="FF0000"/>
                </a:solidFill>
              </a:rPr>
              <a:t>Sequence N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6CC944B-B439-B6A5-B082-C091628BC73D}"/>
              </a:ext>
            </a:extLst>
          </p:cNvPr>
          <p:cNvSpPr/>
          <p:nvPr/>
        </p:nvSpPr>
        <p:spPr>
          <a:xfrm>
            <a:off x="1482946" y="6646754"/>
            <a:ext cx="1124648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 err="1"/>
              <a:t>KPopTwist</a:t>
            </a:r>
            <a:endParaRPr lang="en-GB" sz="100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24CE4AE-1A0F-E04D-3879-4E6B93FF7588}"/>
              </a:ext>
            </a:extLst>
          </p:cNvPr>
          <p:cNvSpPr/>
          <p:nvPr/>
        </p:nvSpPr>
        <p:spPr>
          <a:xfrm>
            <a:off x="733705" y="7545472"/>
            <a:ext cx="956345" cy="18401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Twisted</a:t>
            </a:r>
            <a:br>
              <a:rPr lang="en-GB" sz="1001" dirty="0"/>
            </a:br>
            <a:r>
              <a:rPr lang="en-GB" sz="1001" dirty="0"/>
              <a:t>spectrum 1: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Dim 1   0.734</a:t>
            </a:r>
          </a:p>
          <a:p>
            <a:pPr algn="ctr"/>
            <a:r>
              <a:rPr lang="en-GB" sz="1001" dirty="0"/>
              <a:t>Dim 2  -1.235</a:t>
            </a:r>
          </a:p>
          <a:p>
            <a:pPr algn="ctr"/>
            <a:r>
              <a:rPr lang="en-GB" sz="1001" dirty="0"/>
              <a:t>…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(shorter</a:t>
            </a:r>
          </a:p>
          <a:p>
            <a:pPr algn="ctr"/>
            <a:r>
              <a:rPr lang="en-GB" sz="1001" dirty="0"/>
              <a:t>vector with</a:t>
            </a:r>
          </a:p>
          <a:p>
            <a:pPr algn="ctr"/>
            <a:r>
              <a:rPr lang="en-GB" sz="1001" dirty="0"/>
              <a:t>hundreds of</a:t>
            </a:r>
          </a:p>
          <a:p>
            <a:pPr algn="ctr"/>
            <a:r>
              <a:rPr lang="en-GB" sz="1001" dirty="0"/>
              <a:t>components)</a:t>
            </a:r>
            <a:endParaRPr lang="en-GB" sz="1702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74E3ED9-E938-DEFA-7E87-E2B1CB49CA43}"/>
              </a:ext>
            </a:extLst>
          </p:cNvPr>
          <p:cNvSpPr/>
          <p:nvPr/>
        </p:nvSpPr>
        <p:spPr>
          <a:xfrm>
            <a:off x="2320535" y="7545472"/>
            <a:ext cx="956345" cy="18401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Twisted</a:t>
            </a:r>
            <a:br>
              <a:rPr lang="en-GB" sz="1001" dirty="0"/>
            </a:br>
            <a:r>
              <a:rPr lang="en-GB" sz="1001" dirty="0"/>
              <a:t>spectrum N: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Dim 1   1.345</a:t>
            </a:r>
          </a:p>
          <a:p>
            <a:pPr algn="ctr"/>
            <a:r>
              <a:rPr lang="en-GB" sz="1001" dirty="0"/>
              <a:t>Dim 2   2.712</a:t>
            </a:r>
          </a:p>
          <a:p>
            <a:pPr algn="ctr"/>
            <a:r>
              <a:rPr lang="en-GB" sz="1001" dirty="0"/>
              <a:t>…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(shorter</a:t>
            </a:r>
          </a:p>
          <a:p>
            <a:pPr algn="ctr"/>
            <a:r>
              <a:rPr lang="en-GB" sz="1001" dirty="0"/>
              <a:t>vector with</a:t>
            </a:r>
          </a:p>
          <a:p>
            <a:pPr algn="ctr"/>
            <a:r>
              <a:rPr lang="en-GB" sz="1001" dirty="0"/>
              <a:t>hundreds of</a:t>
            </a:r>
          </a:p>
          <a:p>
            <a:pPr algn="ctr"/>
            <a:r>
              <a:rPr lang="en-GB" sz="1001" dirty="0"/>
              <a:t>components)</a:t>
            </a:r>
            <a:endParaRPr lang="en-GB" sz="1702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D0B79102-89B9-B57E-2490-C31822E2C959}"/>
              </a:ext>
            </a:extLst>
          </p:cNvPr>
          <p:cNvCxnSpPr>
            <a:stCxn id="60" idx="4"/>
            <a:endCxn id="63" idx="0"/>
          </p:cNvCxnSpPr>
          <p:nvPr/>
        </p:nvCxnSpPr>
        <p:spPr>
          <a:xfrm rot="5400000">
            <a:off x="1480632" y="6980833"/>
            <a:ext cx="295886" cy="83339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1483A303-E52D-8537-E4FD-A293CAA95AD7}"/>
              </a:ext>
            </a:extLst>
          </p:cNvPr>
          <p:cNvCxnSpPr>
            <a:stCxn id="60" idx="4"/>
            <a:endCxn id="64" idx="0"/>
          </p:cNvCxnSpPr>
          <p:nvPr/>
        </p:nvCxnSpPr>
        <p:spPr>
          <a:xfrm rot="16200000" flipH="1">
            <a:off x="2274047" y="7020808"/>
            <a:ext cx="295886" cy="75343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2E2AE50-8C2F-D388-98EC-D9BB7D3AA009}"/>
              </a:ext>
            </a:extLst>
          </p:cNvPr>
          <p:cNvSpPr txBox="1"/>
          <p:nvPr/>
        </p:nvSpPr>
        <p:spPr>
          <a:xfrm>
            <a:off x="1848783" y="8208796"/>
            <a:ext cx="335560" cy="354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702" dirty="0"/>
              <a:t>…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BB33A5-2B85-B3D2-BA54-802618135A7F}"/>
              </a:ext>
            </a:extLst>
          </p:cNvPr>
          <p:cNvSpPr txBox="1"/>
          <p:nvPr/>
        </p:nvSpPr>
        <p:spPr>
          <a:xfrm>
            <a:off x="489143" y="9541826"/>
            <a:ext cx="3013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accent1">
                    <a:lumMod val="50000"/>
                  </a:schemeClr>
                </a:solidFill>
              </a:rPr>
              <a:t>Embedding 2 – Reduced twisted space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305CA71-0415-A7D8-420F-74753EA6A016}"/>
              </a:ext>
            </a:extLst>
          </p:cNvPr>
          <p:cNvSpPr/>
          <p:nvPr/>
        </p:nvSpPr>
        <p:spPr>
          <a:xfrm>
            <a:off x="1652910" y="10059324"/>
            <a:ext cx="89657" cy="9227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D1D0740-EE4D-8D50-2966-B9E349BF512A}"/>
              </a:ext>
            </a:extLst>
          </p:cNvPr>
          <p:cNvSpPr/>
          <p:nvPr/>
        </p:nvSpPr>
        <p:spPr>
          <a:xfrm>
            <a:off x="2321354" y="9965504"/>
            <a:ext cx="89657" cy="9227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E1A7DB1-044C-4A90-8019-E378B5754D70}"/>
              </a:ext>
            </a:extLst>
          </p:cNvPr>
          <p:cNvSpPr/>
          <p:nvPr/>
        </p:nvSpPr>
        <p:spPr>
          <a:xfrm>
            <a:off x="1580833" y="10462346"/>
            <a:ext cx="89657" cy="9227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03F189D-E063-E758-E84B-3BCB6E2836D8}"/>
              </a:ext>
            </a:extLst>
          </p:cNvPr>
          <p:cNvSpPr/>
          <p:nvPr/>
        </p:nvSpPr>
        <p:spPr>
          <a:xfrm>
            <a:off x="1947365" y="10171728"/>
            <a:ext cx="89657" cy="9227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66EE809-1A64-0BC2-30A6-05826FB817B5}"/>
              </a:ext>
            </a:extLst>
          </p:cNvPr>
          <p:cNvSpPr/>
          <p:nvPr/>
        </p:nvSpPr>
        <p:spPr>
          <a:xfrm>
            <a:off x="2185647" y="10429860"/>
            <a:ext cx="89657" cy="9227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2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AD2DB08-280C-E69C-5C06-AE84309CF2D1}"/>
              </a:ext>
            </a:extLst>
          </p:cNvPr>
          <p:cNvCxnSpPr/>
          <p:nvPr/>
        </p:nvCxnSpPr>
        <p:spPr>
          <a:xfrm flipV="1">
            <a:off x="2071575" y="9848735"/>
            <a:ext cx="82663" cy="4613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0BD7D3D-8C38-48B0-1514-8DC5CCA0BC07}"/>
              </a:ext>
            </a:extLst>
          </p:cNvPr>
          <p:cNvCxnSpPr/>
          <p:nvPr/>
        </p:nvCxnSpPr>
        <p:spPr>
          <a:xfrm flipH="1">
            <a:off x="1756810" y="10310132"/>
            <a:ext cx="314763" cy="68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4338856-CE69-C828-5F00-29FA181289FD}"/>
              </a:ext>
            </a:extLst>
          </p:cNvPr>
          <p:cNvCxnSpPr/>
          <p:nvPr/>
        </p:nvCxnSpPr>
        <p:spPr>
          <a:xfrm>
            <a:off x="2059933" y="10312968"/>
            <a:ext cx="435732" cy="247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62039D03-10AF-2280-68BC-74C5B821BFA2}"/>
              </a:ext>
            </a:extLst>
          </p:cNvPr>
          <p:cNvCxnSpPr>
            <a:cxnSpLocks/>
            <a:stCxn id="63" idx="1"/>
            <a:endCxn id="71" idx="2"/>
          </p:cNvCxnSpPr>
          <p:nvPr/>
        </p:nvCxnSpPr>
        <p:spPr>
          <a:xfrm rot="10800000" flipH="1" flipV="1">
            <a:off x="733702" y="8465563"/>
            <a:ext cx="847129" cy="2042923"/>
          </a:xfrm>
          <a:prstGeom prst="bentConnector3">
            <a:avLst>
              <a:gd name="adj1" fmla="val -26985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7545CD17-F00C-3FC7-030C-A5C7FB4A766D}"/>
              </a:ext>
            </a:extLst>
          </p:cNvPr>
          <p:cNvCxnSpPr>
            <a:stCxn id="64" idx="3"/>
            <a:endCxn id="73" idx="6"/>
          </p:cNvCxnSpPr>
          <p:nvPr/>
        </p:nvCxnSpPr>
        <p:spPr>
          <a:xfrm flipH="1">
            <a:off x="2275302" y="8465565"/>
            <a:ext cx="1001575" cy="2010436"/>
          </a:xfrm>
          <a:prstGeom prst="bentConnector3">
            <a:avLst>
              <a:gd name="adj1" fmla="val -22824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71CC02B-958D-11B5-FF61-F00910E30F7C}"/>
              </a:ext>
            </a:extLst>
          </p:cNvPr>
          <p:cNvSpPr txBox="1"/>
          <p:nvPr/>
        </p:nvSpPr>
        <p:spPr>
          <a:xfrm>
            <a:off x="-95906" y="10009241"/>
            <a:ext cx="2059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accent1">
                    <a:lumMod val="50000"/>
                  </a:schemeClr>
                </a:solidFill>
              </a:rPr>
              <a:t>Sample /</a:t>
            </a:r>
            <a:br>
              <a:rPr lang="en-GB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GB" sz="1200" dirty="0">
                <a:solidFill>
                  <a:schemeClr val="accent1">
                    <a:lumMod val="50000"/>
                  </a:schemeClr>
                </a:solidFill>
              </a:rPr>
              <a:t>Sequence 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A4541F-5FAD-BC6E-1F5B-858091241061}"/>
              </a:ext>
            </a:extLst>
          </p:cNvPr>
          <p:cNvSpPr txBox="1"/>
          <p:nvPr/>
        </p:nvSpPr>
        <p:spPr>
          <a:xfrm>
            <a:off x="2008733" y="10022646"/>
            <a:ext cx="2059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accent1">
                    <a:lumMod val="50000"/>
                  </a:schemeClr>
                </a:solidFill>
              </a:rPr>
              <a:t>Sample /</a:t>
            </a:r>
            <a:br>
              <a:rPr lang="en-GB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GB" sz="1200" dirty="0">
                <a:solidFill>
                  <a:schemeClr val="accent1">
                    <a:lumMod val="50000"/>
                  </a:schemeClr>
                </a:solidFill>
              </a:rPr>
              <a:t>Sequence N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6CC944B-B439-B6A5-B082-C091628BC73D}"/>
              </a:ext>
            </a:extLst>
          </p:cNvPr>
          <p:cNvSpPr/>
          <p:nvPr/>
        </p:nvSpPr>
        <p:spPr>
          <a:xfrm>
            <a:off x="1482946" y="10952053"/>
            <a:ext cx="1124648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CLASSIFIER</a:t>
            </a:r>
          </a:p>
        </p:txBody>
      </p:sp>
      <p:cxnSp>
        <p:nvCxnSpPr>
          <p:cNvPr id="101" name="Straight Connector 100"/>
          <p:cNvCxnSpPr/>
          <p:nvPr/>
        </p:nvCxnSpPr>
        <p:spPr>
          <a:xfrm>
            <a:off x="696474" y="2760368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289056" y="2756558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707903" y="3632859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2285244" y="3625239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707904" y="8018169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2292866" y="8018169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707903" y="8639199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2285244" y="8639199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C6CC944B-B439-B6A5-B082-C091628BC73D}"/>
              </a:ext>
            </a:extLst>
          </p:cNvPr>
          <p:cNvSpPr/>
          <p:nvPr/>
        </p:nvSpPr>
        <p:spPr>
          <a:xfrm>
            <a:off x="4665853" y="7611620"/>
            <a:ext cx="1124648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Compute</a:t>
            </a:r>
            <a:br>
              <a:rPr lang="en-GB" sz="1001" dirty="0"/>
            </a:br>
            <a:r>
              <a:rPr lang="en-GB" sz="1001" dirty="0"/>
              <a:t>Distances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C6CC944B-B439-B6A5-B082-C091628BC73D}"/>
              </a:ext>
            </a:extLst>
          </p:cNvPr>
          <p:cNvSpPr/>
          <p:nvPr/>
        </p:nvSpPr>
        <p:spPr>
          <a:xfrm>
            <a:off x="4665851" y="10952053"/>
            <a:ext cx="1124648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K-NN</a:t>
            </a:r>
          </a:p>
          <a:p>
            <a:pPr algn="ctr"/>
            <a:r>
              <a:rPr lang="en-GB" sz="1001" dirty="0"/>
              <a:t>CLASSIFIER</a:t>
            </a:r>
          </a:p>
        </p:txBody>
      </p:sp>
      <p:cxnSp>
        <p:nvCxnSpPr>
          <p:cNvPr id="134" name="Straight Arrow Connector 133"/>
          <p:cNvCxnSpPr>
            <a:stCxn id="124" idx="4"/>
            <a:endCxn id="130" idx="0"/>
          </p:cNvCxnSpPr>
          <p:nvPr/>
        </p:nvCxnSpPr>
        <p:spPr>
          <a:xfrm flipH="1">
            <a:off x="5228175" y="8214447"/>
            <a:ext cx="2" cy="27376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C6CC944B-B439-B6A5-B082-C091628BC73D}"/>
              </a:ext>
            </a:extLst>
          </p:cNvPr>
          <p:cNvSpPr/>
          <p:nvPr/>
        </p:nvSpPr>
        <p:spPr>
          <a:xfrm>
            <a:off x="4660485" y="2867504"/>
            <a:ext cx="1124648" cy="6028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99" dirty="0">
                <a:latin typeface="Lucida Sans Typewriter" panose="020B0509030504030204" pitchFamily="49" charset="0"/>
              </a:rPr>
              <a:t>mash</a:t>
            </a:r>
            <a:r>
              <a:rPr lang="en-GB" sz="1001" dirty="0"/>
              <a:t> /</a:t>
            </a:r>
          </a:p>
          <a:p>
            <a:pPr algn="ctr"/>
            <a:r>
              <a:rPr lang="en-GB" sz="1001" dirty="0" err="1"/>
              <a:t>Sourmash</a:t>
            </a:r>
            <a:endParaRPr lang="en-GB" sz="1001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24CE4AE-1A0F-E04D-3879-4E6B93FF7588}"/>
              </a:ext>
            </a:extLst>
          </p:cNvPr>
          <p:cNvSpPr/>
          <p:nvPr/>
        </p:nvSpPr>
        <p:spPr>
          <a:xfrm>
            <a:off x="3911243" y="3877244"/>
            <a:ext cx="956345" cy="12646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Sketch 1: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01f2ea</a:t>
            </a:r>
          </a:p>
          <a:p>
            <a:pPr algn="ctr"/>
            <a:r>
              <a:rPr lang="en-GB" sz="1001" dirty="0"/>
              <a:t>01ffea</a:t>
            </a:r>
          </a:p>
          <a:p>
            <a:pPr algn="ctr"/>
            <a:r>
              <a:rPr lang="en-GB" sz="1001" dirty="0"/>
              <a:t>…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(set of hashes)</a:t>
            </a:r>
            <a:endParaRPr lang="en-GB" sz="1702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74E3ED9-E938-DEFA-7E87-E2B1CB49CA43}"/>
              </a:ext>
            </a:extLst>
          </p:cNvPr>
          <p:cNvSpPr/>
          <p:nvPr/>
        </p:nvSpPr>
        <p:spPr>
          <a:xfrm>
            <a:off x="5498073" y="3877244"/>
            <a:ext cx="956345" cy="12646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1" dirty="0"/>
              <a:t>Sketch N: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010001</a:t>
            </a:r>
          </a:p>
          <a:p>
            <a:pPr algn="ctr"/>
            <a:r>
              <a:rPr lang="en-GB" sz="1001" dirty="0"/>
              <a:t>01ffea</a:t>
            </a:r>
          </a:p>
          <a:p>
            <a:pPr algn="ctr"/>
            <a:r>
              <a:rPr lang="en-GB" sz="1001" dirty="0"/>
              <a:t>…</a:t>
            </a:r>
          </a:p>
          <a:p>
            <a:pPr algn="ctr"/>
            <a:endParaRPr lang="en-GB" sz="1001" dirty="0"/>
          </a:p>
          <a:p>
            <a:pPr algn="ctr"/>
            <a:r>
              <a:rPr lang="en-GB" sz="1001" dirty="0"/>
              <a:t>(set of hashes)</a:t>
            </a:r>
            <a:endParaRPr lang="en-GB" sz="1702" dirty="0"/>
          </a:p>
        </p:txBody>
      </p:sp>
      <p:cxnSp>
        <p:nvCxnSpPr>
          <p:cNvPr id="138" name="Connector: Elbow 64">
            <a:extLst>
              <a:ext uri="{FF2B5EF4-FFF2-40B4-BE49-F238E27FC236}">
                <a16:creationId xmlns:a16="http://schemas.microsoft.com/office/drawing/2014/main" id="{D0B79102-89B9-B57E-2490-C31822E2C959}"/>
              </a:ext>
            </a:extLst>
          </p:cNvPr>
          <p:cNvCxnSpPr>
            <a:stCxn id="135" idx="4"/>
            <a:endCxn id="136" idx="0"/>
          </p:cNvCxnSpPr>
          <p:nvPr/>
        </p:nvCxnSpPr>
        <p:spPr>
          <a:xfrm rot="5400000">
            <a:off x="4602659" y="3257092"/>
            <a:ext cx="406909" cy="83339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9" name="Connector: Elbow 65">
            <a:extLst>
              <a:ext uri="{FF2B5EF4-FFF2-40B4-BE49-F238E27FC236}">
                <a16:creationId xmlns:a16="http://schemas.microsoft.com/office/drawing/2014/main" id="{1483A303-E52D-8537-E4FD-A293CAA95AD7}"/>
              </a:ext>
            </a:extLst>
          </p:cNvPr>
          <p:cNvCxnSpPr>
            <a:stCxn id="135" idx="4"/>
            <a:endCxn id="137" idx="0"/>
          </p:cNvCxnSpPr>
          <p:nvPr/>
        </p:nvCxnSpPr>
        <p:spPr>
          <a:xfrm rot="16200000" flipH="1">
            <a:off x="5396077" y="3297070"/>
            <a:ext cx="406909" cy="75343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42E2AE50-8C2F-D388-98EC-D9BB7D3AA009}"/>
              </a:ext>
            </a:extLst>
          </p:cNvPr>
          <p:cNvSpPr txBox="1"/>
          <p:nvPr/>
        </p:nvSpPr>
        <p:spPr>
          <a:xfrm>
            <a:off x="5026323" y="4311435"/>
            <a:ext cx="335560" cy="354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702" dirty="0"/>
              <a:t>…</a:t>
            </a:r>
          </a:p>
        </p:txBody>
      </p:sp>
      <p:cxnSp>
        <p:nvCxnSpPr>
          <p:cNvPr id="141" name="Straight Connector 140"/>
          <p:cNvCxnSpPr/>
          <p:nvPr/>
        </p:nvCxnSpPr>
        <p:spPr>
          <a:xfrm>
            <a:off x="3885446" y="4238917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5470406" y="4238917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>
            <a:off x="3885446" y="4818037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>
            <a:off x="5462785" y="4821847"/>
            <a:ext cx="10194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/>
          <p:cNvCxnSpPr>
            <a:cxnSpLocks/>
            <a:endCxn id="124" idx="0"/>
          </p:cNvCxnSpPr>
          <p:nvPr/>
        </p:nvCxnSpPr>
        <p:spPr>
          <a:xfrm rot="16200000" flipH="1">
            <a:off x="3573936" y="5957379"/>
            <a:ext cx="2469722" cy="838760"/>
          </a:xfrm>
          <a:prstGeom prst="bentConnector3">
            <a:avLst>
              <a:gd name="adj1" fmla="val 739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/>
          <p:cNvCxnSpPr>
            <a:stCxn id="137" idx="2"/>
            <a:endCxn id="124" idx="0"/>
          </p:cNvCxnSpPr>
          <p:nvPr/>
        </p:nvCxnSpPr>
        <p:spPr>
          <a:xfrm rot="5400000">
            <a:off x="4367349" y="6002722"/>
            <a:ext cx="2469727" cy="748069"/>
          </a:xfrm>
          <a:prstGeom prst="bentConnector3">
            <a:avLst>
              <a:gd name="adj1" fmla="val 739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Elbow Connector 182"/>
          <p:cNvCxnSpPr>
            <a:cxnSpLocks/>
          </p:cNvCxnSpPr>
          <p:nvPr/>
        </p:nvCxnSpPr>
        <p:spPr>
          <a:xfrm rot="10800000" flipV="1">
            <a:off x="2606883" y="4509566"/>
            <a:ext cx="1303650" cy="6743900"/>
          </a:xfrm>
          <a:prstGeom prst="bentConnector3">
            <a:avLst>
              <a:gd name="adj1" fmla="val 14249"/>
            </a:avLst>
          </a:prstGeom>
          <a:ln w="19050" cap="flat" cmpd="sng" algn="ctr">
            <a:solidFill>
              <a:srgbClr val="C00000"/>
            </a:solidFill>
            <a:prstDash val="lg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CCFD4A07-F127-E361-EE0D-79317C3689E8}"/>
              </a:ext>
            </a:extLst>
          </p:cNvPr>
          <p:cNvCxnSpPr>
            <a:stCxn id="2" idx="0"/>
            <a:endCxn id="135" idx="6"/>
          </p:cNvCxnSpPr>
          <p:nvPr/>
        </p:nvCxnSpPr>
        <p:spPr>
          <a:xfrm rot="16200000" flipH="1">
            <a:off x="2279945" y="-336269"/>
            <a:ext cx="2455646" cy="4554733"/>
          </a:xfrm>
          <a:prstGeom prst="bentConnector4">
            <a:avLst>
              <a:gd name="adj1" fmla="val -9554"/>
              <a:gd name="adj2" fmla="val 11613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8F47CCEF-24BA-1B22-9B01-8711ADAE79CB}"/>
              </a:ext>
            </a:extLst>
          </p:cNvPr>
          <p:cNvCxnSpPr>
            <a:stCxn id="3" idx="0"/>
            <a:endCxn id="135" idx="2"/>
          </p:cNvCxnSpPr>
          <p:nvPr/>
        </p:nvCxnSpPr>
        <p:spPr>
          <a:xfrm rot="16200000" flipH="1">
            <a:off x="2498976" y="1007410"/>
            <a:ext cx="2455646" cy="1867372"/>
          </a:xfrm>
          <a:prstGeom prst="bentConnector4">
            <a:avLst>
              <a:gd name="adj1" fmla="val -5704"/>
              <a:gd name="adj2" fmla="val 5676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622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9486</TotalTime>
  <Words>165</Words>
  <Application>Microsoft Office PowerPoint</Application>
  <PresentationFormat>Widescreen</PresentationFormat>
  <Paragraphs>77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Lucida Sans Typewriter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Paolo Ribeca</dc:creator>
  <cp:lastModifiedBy>Paolo Ribeca</cp:lastModifiedBy>
  <cp:revision>36</cp:revision>
  <dcterms:created xsi:type="dcterms:W3CDTF">2023-06-11T13:47:15Z</dcterms:created>
  <dcterms:modified xsi:type="dcterms:W3CDTF">2023-06-18T19:00:30Z</dcterms:modified>
</cp:coreProperties>
</file>